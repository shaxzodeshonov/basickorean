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  <p:sldId id="301" r:id="rId4"/>
    <p:sldId id="302" r:id="rId5"/>
    <p:sldId id="278" r:id="rId6"/>
    <p:sldId id="279" r:id="rId7"/>
    <p:sldId id="257" r:id="rId8"/>
    <p:sldId id="258" r:id="rId9"/>
    <p:sldId id="259" r:id="rId10"/>
    <p:sldId id="260" r:id="rId11"/>
    <p:sldId id="306" r:id="rId12"/>
    <p:sldId id="262" r:id="rId13"/>
    <p:sldId id="263" r:id="rId14"/>
    <p:sldId id="307" r:id="rId15"/>
    <p:sldId id="282" r:id="rId16"/>
    <p:sldId id="296" r:id="rId17"/>
    <p:sldId id="283" r:id="rId18"/>
    <p:sldId id="284" r:id="rId19"/>
    <p:sldId id="297" r:id="rId20"/>
    <p:sldId id="298" r:id="rId21"/>
    <p:sldId id="299" r:id="rId22"/>
    <p:sldId id="285" r:id="rId23"/>
    <p:sldId id="286" r:id="rId24"/>
    <p:sldId id="287" r:id="rId25"/>
    <p:sldId id="289" r:id="rId26"/>
    <p:sldId id="308" r:id="rId27"/>
    <p:sldId id="303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93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28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19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4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17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62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8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06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62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96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25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A066F-AD98-4754-B625-7B79EC00A7B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4E0C8-DE4C-47CB-BA09-3F7A1F474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62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6AE3623D-C8BA-FE83-4924-82089490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4876800" cy="687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42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93" y="0"/>
            <a:ext cx="6342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1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40" y="-1"/>
            <a:ext cx="879910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3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28" y="0"/>
            <a:ext cx="10587471" cy="681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05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989"/>
            <a:ext cx="12118109" cy="6275278"/>
          </a:xfrm>
          <a:prstGeom prst="rect">
            <a:avLst/>
          </a:prstGeom>
        </p:spPr>
      </p:pic>
      <p:pic>
        <p:nvPicPr>
          <p:cNvPr id="5" name="抗厚祈 01. 葛澜1-(3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64543" y="39398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8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5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807"/>
            <a:ext cx="12071927" cy="6305083"/>
          </a:xfrm>
          <a:prstGeom prst="rect">
            <a:avLst/>
          </a:prstGeom>
        </p:spPr>
      </p:pic>
      <p:pic>
        <p:nvPicPr>
          <p:cNvPr id="3" name="抗厚祈 02. 磊澜1-(3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02725" y="29354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8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31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043708"/>
            <a:ext cx="4655127" cy="812945"/>
          </a:xfrm>
        </p:spPr>
        <p:txBody>
          <a:bodyPr>
            <a:normAutofit fontScale="90000"/>
          </a:bodyPr>
          <a:lstStyle/>
          <a:p>
            <a:pPr marL="0" indent="0"/>
            <a:r>
              <a:rPr lang="ru-RU" sz="5300" b="1" dirty="0">
                <a:solidFill>
                  <a:srgbClr val="00B050"/>
                </a:solidFill>
              </a:rPr>
              <a:t>Дифтонги</a:t>
            </a:r>
            <a:br>
              <a:rPr lang="en-US" sz="4800" b="1" dirty="0"/>
            </a:br>
            <a:r>
              <a:rPr lang="ru-RU" sz="4800" b="1" dirty="0"/>
              <a:t>(</a:t>
            </a:r>
            <a:r>
              <a:rPr lang="ru-RU" sz="4000" b="1" dirty="0"/>
              <a:t>сложные гласные</a:t>
            </a:r>
            <a:r>
              <a:rPr lang="ru-RU" sz="4900" b="1" dirty="0"/>
              <a:t>)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7661548" y="2129124"/>
            <a:ext cx="1004455" cy="7416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ㅙ</a:t>
            </a:r>
            <a:endParaRPr lang="ru-RU" sz="440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933703" y="3517250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ㅢ</a:t>
            </a:r>
            <a:endParaRPr lang="ru-RU" sz="440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593768" y="4880374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ㅖ</a:t>
            </a:r>
            <a:endParaRPr lang="ru-RU" sz="4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593767" y="3513553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ㅒ</a:t>
            </a:r>
            <a:endParaRPr lang="ru-RU" sz="4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593772" y="2150343"/>
            <a:ext cx="931719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ㅔ</a:t>
            </a:r>
            <a:endParaRPr lang="ru-RU" sz="44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661546" y="804089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ㅘ</a:t>
            </a:r>
            <a:endParaRPr lang="ru-RU" sz="44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593772" y="804089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ㅐ</a:t>
            </a:r>
            <a:endParaRPr lang="ru-RU" sz="44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933705" y="804089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ㅞ</a:t>
            </a:r>
            <a:endParaRPr lang="ru-RU" sz="440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933704" y="2150343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ㅟ</a:t>
            </a:r>
            <a:endParaRPr lang="ru-RU" sz="440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661546" y="4880374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ㅝ</a:t>
            </a:r>
            <a:endParaRPr lang="ru-RU" sz="440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661547" y="3517250"/>
            <a:ext cx="1004455" cy="7204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ㅚ</a:t>
            </a:r>
            <a:endParaRPr lang="ru-RU" sz="4400"/>
          </a:p>
        </p:txBody>
      </p:sp>
    </p:spTree>
    <p:extLst>
      <p:ext uri="{BB962C8B-B14F-4D97-AF65-F5344CB8AC3E}">
        <p14:creationId xmlns:p14="http://schemas.microsoft.com/office/powerpoint/2010/main" val="339726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600"/>
            <a:ext cx="12047789" cy="424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1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161" y="-36946"/>
            <a:ext cx="9611914" cy="68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8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1" y="73891"/>
            <a:ext cx="10776560" cy="671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E91EEC29-FE57-1C42-6DA1-4C709F71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4" y="223102"/>
            <a:ext cx="5900239" cy="562211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DF47D1F-0AA8-6D77-F805-358869B456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484"/>
          <a:stretch/>
        </p:blipFill>
        <p:spPr>
          <a:xfrm>
            <a:off x="6013503" y="223102"/>
            <a:ext cx="5665353" cy="655927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6303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1235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ru-RU" sz="4800" b="1" dirty="0"/>
              <a:t>Парные согласные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265055" y="1911927"/>
            <a:ext cx="914400" cy="914400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ㄲ</a:t>
            </a:r>
            <a:endParaRPr lang="ru-RU" sz="44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65055" y="3930073"/>
            <a:ext cx="914400" cy="914400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ㄸ</a:t>
            </a:r>
            <a:endParaRPr lang="ru-RU" sz="4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721928" y="3930073"/>
            <a:ext cx="914400" cy="914400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ㅆ</a:t>
            </a:r>
            <a:endParaRPr lang="ru-RU" sz="4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405092" y="1911927"/>
            <a:ext cx="914400" cy="914400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ㅉ</a:t>
            </a:r>
            <a:endParaRPr lang="ru-RU" sz="44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721928" y="1911927"/>
            <a:ext cx="914400" cy="914400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/>
              <a:t>ㅃ</a:t>
            </a:r>
            <a:endParaRPr lang="ru-RU" sz="4400"/>
          </a:p>
        </p:txBody>
      </p:sp>
    </p:spTree>
    <p:extLst>
      <p:ext uri="{BB962C8B-B14F-4D97-AF65-F5344CB8AC3E}">
        <p14:creationId xmlns:p14="http://schemas.microsoft.com/office/powerpoint/2010/main" val="1588046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46" y="198726"/>
            <a:ext cx="9271289" cy="648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95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>
            <a:extLst>
              <a:ext uri="{FF2B5EF4-FFF2-40B4-BE49-F238E27FC236}">
                <a16:creationId xmlns:a16="http://schemas.microsoft.com/office/drawing/2014/main" id="{82BF7300-EFE9-6EFF-40DE-14E65FBAAE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23" r="876" b="-995"/>
          <a:stretch/>
        </p:blipFill>
        <p:spPr>
          <a:xfrm>
            <a:off x="913414" y="556633"/>
            <a:ext cx="7719598" cy="59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9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1673" y="157017"/>
            <a:ext cx="11970326" cy="24476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100" b="1" dirty="0">
                <a:solidFill>
                  <a:srgbClr val="00B050"/>
                </a:solidFill>
              </a:rPr>
              <a:t>음절 </a:t>
            </a:r>
            <a:r>
              <a:rPr lang="ru-RU" sz="4100" b="1" dirty="0">
                <a:solidFill>
                  <a:srgbClr val="00B050"/>
                </a:solidFill>
              </a:rPr>
              <a:t>Слоги</a:t>
            </a:r>
            <a:endParaRPr lang="en-US" sz="3800" b="1" dirty="0"/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3800" dirty="0"/>
              <a:t> </a:t>
            </a:r>
            <a:r>
              <a:rPr lang="ru-RU" sz="3800" b="1" dirty="0"/>
              <a:t>Слог образуется соединением согласной и гласной. Когда слово</a:t>
            </a:r>
            <a:r>
              <a:rPr lang="en-US" sz="3800" b="1" dirty="0"/>
              <a:t> </a:t>
            </a:r>
            <a:r>
              <a:rPr lang="ru-RU" sz="3800" b="1" dirty="0"/>
              <a:t>или слог начинается с гласной буквы то всегда перед гласной стоит буква «</a:t>
            </a:r>
            <a:r>
              <a:rPr lang="ko-KR" altLang="en-US" sz="3800" b="1" dirty="0"/>
              <a:t>ㅇ</a:t>
            </a:r>
            <a:r>
              <a:rPr lang="ru-RU" altLang="ko-KR" sz="3800" b="1" dirty="0"/>
              <a:t>»</a:t>
            </a:r>
            <a:r>
              <a:rPr lang="ko-KR" altLang="en-US" sz="3800" b="1" dirty="0"/>
              <a:t> </a:t>
            </a:r>
            <a:r>
              <a:rPr lang="en-US" altLang="ko-KR" sz="3800" b="1" dirty="0"/>
              <a:t>(</a:t>
            </a:r>
            <a:r>
              <a:rPr lang="ru-RU" altLang="ko-KR" sz="3800" b="1" dirty="0" err="1"/>
              <a:t>иынг</a:t>
            </a:r>
            <a:r>
              <a:rPr lang="ru-RU" altLang="ko-KR" sz="3800" b="1" dirty="0"/>
              <a:t>)</a:t>
            </a:r>
            <a:endParaRPr lang="en-US" sz="3800" b="1" dirty="0"/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3800" b="1" dirty="0"/>
              <a:t>Вертикальные гласные пишутся справа от согласной, а горизонтальные - под согласной. </a:t>
            </a:r>
            <a:endParaRPr lang="en-US" sz="3800" b="1" dirty="0"/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3800" b="1" dirty="0"/>
              <a:t>Если согласной нет, то вместо нее пишется </a:t>
            </a:r>
            <a:r>
              <a:rPr lang="ko-KR" altLang="en-US" sz="3800" b="1" dirty="0"/>
              <a:t>ㅇ </a:t>
            </a:r>
            <a:r>
              <a:rPr lang="en-US" altLang="ko-KR" sz="3800" b="1" dirty="0"/>
              <a:t>(</a:t>
            </a:r>
            <a:r>
              <a:rPr lang="ru-RU" sz="3800" b="1" dirty="0"/>
              <a:t>немая согласная).</a:t>
            </a:r>
            <a:endParaRPr lang="en-US" sz="3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0" y="2442172"/>
            <a:ext cx="10786051" cy="441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9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36" y="451860"/>
            <a:ext cx="9326418" cy="62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6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842962"/>
            <a:ext cx="1213485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00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71" y="1570182"/>
            <a:ext cx="119538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4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762" y="255441"/>
            <a:ext cx="7616529" cy="653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2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240" y="236969"/>
            <a:ext cx="7738995" cy="64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86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786" y="0"/>
            <a:ext cx="7789850" cy="66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51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" y="972127"/>
            <a:ext cx="12051676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00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0" y="793029"/>
            <a:ext cx="11975037" cy="520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06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17" y="1523999"/>
            <a:ext cx="11616907" cy="37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18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18" y="157424"/>
            <a:ext cx="9019706" cy="658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11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3865" y="3493270"/>
            <a:ext cx="10515600" cy="2852737"/>
          </a:xfrm>
        </p:spPr>
        <p:txBody>
          <a:bodyPr>
            <a:normAutofit fontScale="90000"/>
          </a:bodyPr>
          <a:lstStyle/>
          <a:p>
            <a:r>
              <a:rPr lang="ko-KR" altLang="en-US" sz="8000" dirty="0"/>
              <a:t>안녕히가세요</a:t>
            </a:r>
            <a:r>
              <a:rPr lang="ru-RU" altLang="ko-KR" sz="8000" dirty="0"/>
              <a:t>счастливого пути</a:t>
            </a:r>
            <a:br>
              <a:rPr lang="en-US" altLang="ko-KR" sz="8000" dirty="0"/>
            </a:br>
            <a:br>
              <a:rPr lang="en-US" altLang="ko-KR" sz="8000" dirty="0"/>
            </a:br>
            <a:r>
              <a:rPr lang="ko-KR" altLang="en-US" sz="8000" dirty="0"/>
              <a:t>안녕히계세요</a:t>
            </a:r>
            <a:r>
              <a:rPr lang="ru-RU" altLang="ko-KR" sz="8000" dirty="0"/>
              <a:t>хорошо оставаться</a:t>
            </a:r>
            <a:br>
              <a:rPr lang="en-US" altLang="ko-K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31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9" y="185615"/>
            <a:ext cx="9762392" cy="65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614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16169</TotalTime>
  <Words>89</Words>
  <Application>Microsoft Office PowerPoint</Application>
  <PresentationFormat>Widescreen</PresentationFormat>
  <Paragraphs>23</Paragraphs>
  <Slides>27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Дифтонги (сложные гласные)</vt:lpstr>
      <vt:lpstr>PowerPoint Presentation</vt:lpstr>
      <vt:lpstr>PowerPoint Presentation</vt:lpstr>
      <vt:lpstr>PowerPoint Presentation</vt:lpstr>
      <vt:lpstr>PowerPoint Presentation</vt:lpstr>
      <vt:lpstr>Парные согласные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안녕히가세요счастливого пути  안녕히계세요хорошо оставаться 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Дифтонги </dc:title>
  <dc:creator>Hewlett Packard</dc:creator>
  <cp:lastModifiedBy>Shirin Makhamedova</cp:lastModifiedBy>
  <cp:revision>61</cp:revision>
  <dcterms:created xsi:type="dcterms:W3CDTF">2024-09-18T13:45:17Z</dcterms:created>
  <dcterms:modified xsi:type="dcterms:W3CDTF">2026-09-17T09:31:36Z</dcterms:modified>
</cp:coreProperties>
</file>